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hdC9/8SDHI5iINWzRQyqmVzCER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54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6" name="Google Shape;9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7" name="Google Shape;10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3" name="Google Shape;11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9" name="Google Shape;11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6" name="Google Shape;12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2" name="Google Shape;13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8" name="Google Shape;13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4" name="Google Shape;14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0" name="Google Shape;15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7" name="Google Shape;15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3" name="Google Shape;16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5" name="Google Shape;17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1" name="Google Shape;18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7" name="Google Shape;18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3" name="Google Shape;19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0" name="Google Shape;20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6" name="Google Shape;20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2" name="Google Shape;212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11e0628b44c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11e0628b44c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3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3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3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4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4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4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4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4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4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4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4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4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4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4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4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4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4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4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4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4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4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4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4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4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3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775470" y="2542529"/>
            <a:ext cx="10640754" cy="775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</a:pPr>
            <a:r>
              <a:rPr lang="es-MX" sz="4000">
                <a:solidFill>
                  <a:schemeClr val="dk2"/>
                </a:solidFill>
              </a:rPr>
              <a:t>PUNTO DE NEGOCIO</a:t>
            </a:r>
            <a:endParaRPr/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513968" y="3350721"/>
            <a:ext cx="9163757" cy="450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es-MX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INDEX</a:t>
            </a:r>
            <a:endParaRPr/>
          </a:p>
        </p:txBody>
      </p:sp>
      <p:pic>
        <p:nvPicPr>
          <p:cNvPr id="86" name="Google Shape;86;p1" descr="Imagen que contiene dibujo, alimentos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532424" cy="1482007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1513967" y="6025751"/>
            <a:ext cx="9163757" cy="450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77500" lnSpcReduction="200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</a:pPr>
            <a:r>
              <a:rPr lang="es-MX"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REPORTE DE MERCADO DE ACAPULCO DE JUAREZ.</a:t>
            </a:r>
            <a:endParaRPr sz="20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</a:pPr>
            <a:r>
              <a:rPr lang="es-MX" sz="2000">
                <a:solidFill>
                  <a:schemeClr val="dk2"/>
                </a:solidFill>
              </a:rPr>
              <a:t>ENERO 2022</a:t>
            </a:r>
            <a:endParaRPr sz="2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MX"/>
              <a:t>RESUMEN EJECUTIVO</a:t>
            </a:r>
            <a:br>
              <a:rPr lang="es-MX"/>
            </a:br>
            <a:r>
              <a:rPr lang="es-MX"/>
              <a:t>TENDENCIAS DESTACADAS</a:t>
            </a:r>
            <a:endParaRPr/>
          </a:p>
        </p:txBody>
      </p:sp>
      <p:pic>
        <p:nvPicPr>
          <p:cNvPr id="93" name="Google Shape;93;p2" descr="Imagen que contiene dibujo, alimentos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532424" cy="14820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>
            <a:spLocks noGrp="1"/>
          </p:cNvSpPr>
          <p:nvPr>
            <p:ph type="title"/>
          </p:nvPr>
        </p:nvSpPr>
        <p:spPr>
          <a:xfrm>
            <a:off x="1410809" y="0"/>
            <a:ext cx="9370381" cy="981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s-MX" sz="3600"/>
              <a:t>PUNTO DE NEGOCIO INDEX</a:t>
            </a:r>
            <a:br>
              <a:rPr lang="es-MX" sz="3600"/>
            </a:br>
            <a:r>
              <a:rPr lang="es-MX" sz="2800"/>
              <a:t>TRANSFORMANDO DATOS EN ESTADÍSTICAS CONFIABLES</a:t>
            </a:r>
            <a:endParaRPr/>
          </a:p>
        </p:txBody>
      </p:sp>
      <p:sp>
        <p:nvSpPr>
          <p:cNvPr id="99" name="Google Shape;99;p3"/>
          <p:cNvSpPr txBox="1">
            <a:spLocks noGrp="1"/>
          </p:cNvSpPr>
          <p:nvPr>
            <p:ph type="body" idx="1"/>
          </p:nvPr>
        </p:nvSpPr>
        <p:spPr>
          <a:xfrm>
            <a:off x="0" y="6285300"/>
            <a:ext cx="6253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</a:pPr>
            <a:r>
              <a:rPr lang="es-MX" sz="1400"/>
              <a:t>OBJETIVO: BRINDAR ESTADÍSTICAS CLARAS OBJETIVAS Y CONFIABLES SOBRE EL MERCADO INMOBILIARIO.</a:t>
            </a:r>
            <a:endParaRPr sz="1400"/>
          </a:p>
        </p:txBody>
      </p:sp>
      <p:pic>
        <p:nvPicPr>
          <p:cNvPr id="100" name="Google Shape;100;p3" descr="Imagen que contiene dibujo, alimentos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943100" cy="148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3"/>
          <p:cNvSpPr txBox="1"/>
          <p:nvPr/>
        </p:nvSpPr>
        <p:spPr>
          <a:xfrm>
            <a:off x="0" y="5712600"/>
            <a:ext cx="6781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MX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FUENTE DE DATOS: TODOS LOS ANUNCIOS DE INMUEBLES PUBLICADOS EN Punto de Negocio</a:t>
            </a:r>
            <a:endParaRPr/>
          </a:p>
        </p:txBody>
      </p:sp>
      <p:sp>
        <p:nvSpPr>
          <p:cNvPr id="102" name="Google Shape;102;p3"/>
          <p:cNvSpPr txBox="1"/>
          <p:nvPr/>
        </p:nvSpPr>
        <p:spPr>
          <a:xfrm>
            <a:off x="6781800" y="5712600"/>
            <a:ext cx="41100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MX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PERIODICIDAD: CÁLCULO Y PUBLICACIÓN MENSUAL.</a:t>
            </a:r>
            <a:endParaRPr sz="18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"/>
          <p:cNvSpPr txBox="1"/>
          <p:nvPr/>
        </p:nvSpPr>
        <p:spPr>
          <a:xfrm>
            <a:off x="6710400" y="6285300"/>
            <a:ext cx="5481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MX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METODOLOGÍA: UTILIZAMOS LAS MEJORAS PRÁCTICAS ESTADÍSTICAS INTERNACIONALES</a:t>
            </a:r>
            <a:endParaRPr/>
          </a:p>
        </p:txBody>
      </p:sp>
      <p:pic>
        <p:nvPicPr>
          <p:cNvPr id="104" name="Google Shape;104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90425" y="1489575"/>
            <a:ext cx="7067550" cy="371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52;p11">
            <a:extLst>
              <a:ext uri="{FF2B5EF4-FFF2-40B4-BE49-F238E27FC236}">
                <a16:creationId xmlns:a16="http://schemas.microsoft.com/office/drawing/2014/main" id="{A3055101-078D-4722-8DC2-84E7FFE95517}"/>
              </a:ext>
            </a:extLst>
          </p:cNvPr>
          <p:cNvSpPr/>
          <p:nvPr/>
        </p:nvSpPr>
        <p:spPr>
          <a:xfrm>
            <a:off x="1871150" y="2096975"/>
            <a:ext cx="9249900" cy="3785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4"/>
          <p:cNvSpPr txBox="1">
            <a:spLocks noGrp="1"/>
          </p:cNvSpPr>
          <p:nvPr>
            <p:ph type="title"/>
          </p:nvPr>
        </p:nvSpPr>
        <p:spPr>
          <a:xfrm>
            <a:off x="4454000" y="3429000"/>
            <a:ext cx="4084200" cy="11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MX" dirty="0"/>
              <a:t>PRECIO DE VENTA:</a:t>
            </a:r>
            <a:endParaRPr dirty="0"/>
          </a:p>
        </p:txBody>
      </p:sp>
      <p:pic>
        <p:nvPicPr>
          <p:cNvPr id="110" name="Google Shape;110;p4" descr="Imagen que contiene dibujo, alimentos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532424" cy="14820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"/>
          <p:cNvSpPr txBox="1">
            <a:spLocks noGrp="1"/>
          </p:cNvSpPr>
          <p:nvPr>
            <p:ph type="ctrTitle"/>
          </p:nvPr>
        </p:nvSpPr>
        <p:spPr>
          <a:xfrm>
            <a:off x="1692675" y="0"/>
            <a:ext cx="8806649" cy="1260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MX" sz="4400"/>
              <a:t>VENTA</a:t>
            </a:r>
            <a:br>
              <a:rPr lang="es-MX" sz="4400"/>
            </a:br>
            <a:r>
              <a:rPr lang="es-MX" sz="4400"/>
              <a:t>UNIDAD MEDIA. PRECIO Y SUPERFICIE</a:t>
            </a:r>
            <a:endParaRPr sz="4400"/>
          </a:p>
        </p:txBody>
      </p:sp>
      <p:pic>
        <p:nvPicPr>
          <p:cNvPr id="116" name="Google Shape;116;p5" descr="Imagen que contiene dibujo, alimentos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532424" cy="14820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MX"/>
              <a:t>VENTA</a:t>
            </a:r>
            <a:br>
              <a:rPr lang="es-MX"/>
            </a:br>
            <a:r>
              <a:rPr lang="es-MX"/>
              <a:t>Precio medio de la Ciudad Evolución:</a:t>
            </a:r>
            <a:endParaRPr/>
          </a:p>
        </p:txBody>
      </p:sp>
      <p:sp>
        <p:nvSpPr>
          <p:cNvPr id="122" name="Google Shape;122;p6"/>
          <p:cNvSpPr txBox="1"/>
          <p:nvPr/>
        </p:nvSpPr>
        <p:spPr>
          <a:xfrm>
            <a:off x="2524402" y="1325563"/>
            <a:ext cx="7143195" cy="728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Calibri"/>
              <a:buNone/>
            </a:pPr>
            <a:r>
              <a:rPr lang="es-MX" sz="4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EVOLUCIÓN MENSUAL</a:t>
            </a:r>
            <a:r>
              <a:rPr lang="es-MX" sz="4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MXN/M2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" name="Google Shape;123;p6" descr="Imagen que contiene dibujo, alimentos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532424" cy="14820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"/>
          <p:cNvSpPr txBox="1">
            <a:spLocks noGrp="1"/>
          </p:cNvSpPr>
          <p:nvPr>
            <p:ph type="title"/>
          </p:nvPr>
        </p:nvSpPr>
        <p:spPr>
          <a:xfrm>
            <a:off x="1085850" y="0"/>
            <a:ext cx="10020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MX"/>
              <a:t>VENTA:</a:t>
            </a:r>
            <a:br>
              <a:rPr lang="es-MX"/>
            </a:br>
            <a:r>
              <a:rPr lang="es-MX"/>
              <a:t>PRECIO SEGÚN LAS COLONIAS DE LA CIUDAD</a:t>
            </a:r>
            <a:endParaRPr/>
          </a:p>
        </p:txBody>
      </p:sp>
      <p:pic>
        <p:nvPicPr>
          <p:cNvPr id="129" name="Google Shape;129;p7" descr="Imagen que contiene dibujo, alimentos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532424" cy="14820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"/>
          <p:cNvSpPr txBox="1">
            <a:spLocks noGrp="1"/>
          </p:cNvSpPr>
          <p:nvPr>
            <p:ph type="title"/>
          </p:nvPr>
        </p:nvSpPr>
        <p:spPr>
          <a:xfrm>
            <a:off x="2233100" y="-278"/>
            <a:ext cx="8335500" cy="16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MX"/>
              <a:t>VENTA:</a:t>
            </a:r>
            <a:br>
              <a:rPr lang="es-MX"/>
            </a:br>
            <a:r>
              <a:rPr lang="es-MX"/>
              <a:t>COLONIAS CON MAYOR Y MENOR PRECIO</a:t>
            </a:r>
            <a:endParaRPr/>
          </a:p>
        </p:txBody>
      </p:sp>
      <p:pic>
        <p:nvPicPr>
          <p:cNvPr id="135" name="Google Shape;135;p8" descr="Imagen que contiene dibujo, alimentos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532424" cy="14820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"/>
          <p:cNvSpPr txBox="1">
            <a:spLocks noGrp="1"/>
          </p:cNvSpPr>
          <p:nvPr>
            <p:ph type="title"/>
          </p:nvPr>
        </p:nvSpPr>
        <p:spPr>
          <a:xfrm>
            <a:off x="1322400" y="0"/>
            <a:ext cx="9547200" cy="148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MX"/>
              <a:t>VENTA: </a:t>
            </a:r>
            <a:br>
              <a:rPr lang="es-MX"/>
            </a:br>
            <a:r>
              <a:rPr lang="es-MX"/>
              <a:t>RANGO DE PRECIOS SEGÚN LAS COLONIAS</a:t>
            </a:r>
            <a:endParaRPr/>
          </a:p>
        </p:txBody>
      </p:sp>
      <p:pic>
        <p:nvPicPr>
          <p:cNvPr id="141" name="Google Shape;141;p9" descr="Imagen que contiene dibujo, alimentos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532424" cy="14820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"/>
          <p:cNvSpPr txBox="1">
            <a:spLocks noGrp="1"/>
          </p:cNvSpPr>
          <p:nvPr>
            <p:ph type="title"/>
          </p:nvPr>
        </p:nvSpPr>
        <p:spPr>
          <a:xfrm>
            <a:off x="867935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MX"/>
              <a:t>VENTA</a:t>
            </a:r>
            <a:br>
              <a:rPr lang="es-MX"/>
            </a:br>
            <a:r>
              <a:rPr lang="es-MX"/>
              <a:t>HEAT MAP VARIACIÓN DE PRECIOS</a:t>
            </a:r>
            <a:endParaRPr/>
          </a:p>
        </p:txBody>
      </p:sp>
      <p:pic>
        <p:nvPicPr>
          <p:cNvPr id="147" name="Google Shape;147;p10" descr="Imagen que contiene dibujo, alimentos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532424" cy="14820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"/>
          <p:cNvSpPr/>
          <p:nvPr/>
        </p:nvSpPr>
        <p:spPr>
          <a:xfrm>
            <a:off x="1871150" y="2096975"/>
            <a:ext cx="9249900" cy="3785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1"/>
          <p:cNvSpPr txBox="1">
            <a:spLocks noGrp="1"/>
          </p:cNvSpPr>
          <p:nvPr>
            <p:ph type="title"/>
          </p:nvPr>
        </p:nvSpPr>
        <p:spPr>
          <a:xfrm>
            <a:off x="1871150" y="2232822"/>
            <a:ext cx="9249900" cy="1602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s-MX" sz="3600" dirty="0"/>
              <a:t>PRECIO DE RENTA:</a:t>
            </a:r>
            <a:endParaRPr sz="3600" dirty="0"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endParaRPr sz="3600" dirty="0"/>
          </a:p>
        </p:txBody>
      </p:sp>
      <p:pic>
        <p:nvPicPr>
          <p:cNvPr id="154" name="Google Shape;154;p11" descr="Imagen que contiene dibujo, alimentos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532424" cy="14820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2"/>
          <p:cNvSpPr txBox="1">
            <a:spLocks noGrp="1"/>
          </p:cNvSpPr>
          <p:nvPr>
            <p:ph type="title"/>
          </p:nvPr>
        </p:nvSpPr>
        <p:spPr>
          <a:xfrm>
            <a:off x="1800600" y="-52650"/>
            <a:ext cx="10391400" cy="15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MX"/>
              <a:t>RENTA:</a:t>
            </a:r>
            <a:br>
              <a:rPr lang="es-MX"/>
            </a:br>
            <a:r>
              <a:rPr lang="es-MX"/>
              <a:t>UNIDAD DE MEDIDA PRECIO Y SUPERFICIE</a:t>
            </a:r>
            <a:endParaRPr/>
          </a:p>
        </p:txBody>
      </p:sp>
      <p:pic>
        <p:nvPicPr>
          <p:cNvPr id="160" name="Google Shape;160;p12" descr="Imagen que contiene dibujo, alimentos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532424" cy="14820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3"/>
          <p:cNvSpPr txBox="1">
            <a:spLocks noGrp="1"/>
          </p:cNvSpPr>
          <p:nvPr>
            <p:ph type="title"/>
          </p:nvPr>
        </p:nvSpPr>
        <p:spPr>
          <a:xfrm>
            <a:off x="1532424" y="8314"/>
            <a:ext cx="9830993" cy="148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Calibri"/>
              <a:buNone/>
            </a:pPr>
            <a:r>
              <a:rPr lang="es-MX" dirty="0"/>
              <a:t>RENTA:</a:t>
            </a:r>
            <a:br>
              <a:rPr lang="es-MX" dirty="0"/>
            </a:br>
            <a:r>
              <a:rPr lang="es-MX" dirty="0"/>
              <a:t>PRECIO MEDIO DE LA CIUDAD EVOLUCIÓN</a:t>
            </a:r>
            <a:endParaRPr dirty="0"/>
          </a:p>
        </p:txBody>
      </p:sp>
      <p:pic>
        <p:nvPicPr>
          <p:cNvPr id="166" name="Google Shape;166;p13" descr="Imagen que contiene dibujo, alimentos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532424" cy="14820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4"/>
          <p:cNvSpPr txBox="1">
            <a:spLocks noGrp="1"/>
          </p:cNvSpPr>
          <p:nvPr>
            <p:ph type="title"/>
          </p:nvPr>
        </p:nvSpPr>
        <p:spPr>
          <a:xfrm>
            <a:off x="1532424" y="0"/>
            <a:ext cx="991027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MX" dirty="0"/>
              <a:t>RENTA:</a:t>
            </a:r>
            <a:br>
              <a:rPr lang="es-MX" dirty="0"/>
            </a:br>
            <a:r>
              <a:rPr lang="es-MX" dirty="0"/>
              <a:t>PRECIO SEGÚN LAS COLONIAS DE LA CIUDAD</a:t>
            </a:r>
            <a:endParaRPr dirty="0"/>
          </a:p>
        </p:txBody>
      </p:sp>
      <p:pic>
        <p:nvPicPr>
          <p:cNvPr id="172" name="Google Shape;172;p14" descr="Imagen que contiene dibujo, alimentos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532424" cy="14820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5"/>
          <p:cNvSpPr txBox="1">
            <a:spLocks noGrp="1"/>
          </p:cNvSpPr>
          <p:nvPr>
            <p:ph type="title"/>
          </p:nvPr>
        </p:nvSpPr>
        <p:spPr>
          <a:xfrm>
            <a:off x="2059618" y="0"/>
            <a:ext cx="950798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Calibri"/>
              <a:buNone/>
            </a:pPr>
            <a:r>
              <a:rPr lang="es-MX" sz="4000" dirty="0"/>
              <a:t>RENTA:</a:t>
            </a:r>
            <a:br>
              <a:rPr lang="es-MX" sz="4000" dirty="0"/>
            </a:br>
            <a:r>
              <a:rPr lang="es-MX" sz="4000" dirty="0"/>
              <a:t>COLONIAS CON MAYOR PRECIO Y MENOR PRECIO</a:t>
            </a:r>
            <a:endParaRPr sz="4000" dirty="0"/>
          </a:p>
        </p:txBody>
      </p:sp>
      <p:pic>
        <p:nvPicPr>
          <p:cNvPr id="178" name="Google Shape;178;p15" descr="Imagen que contiene dibujo, alimentos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532424" cy="14820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6"/>
          <p:cNvSpPr txBox="1">
            <a:spLocks noGrp="1"/>
          </p:cNvSpPr>
          <p:nvPr>
            <p:ph type="title"/>
          </p:nvPr>
        </p:nvSpPr>
        <p:spPr>
          <a:xfrm>
            <a:off x="1313895" y="-208681"/>
            <a:ext cx="11002392" cy="1690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MX" dirty="0"/>
              <a:t>RENTA:</a:t>
            </a:r>
            <a:br>
              <a:rPr lang="es-MX" dirty="0"/>
            </a:br>
            <a:r>
              <a:rPr lang="es-MX" dirty="0"/>
              <a:t>RANGO DE PRECIO SEGÚN COLONIAS DE LA CIUDAD</a:t>
            </a:r>
            <a:endParaRPr dirty="0"/>
          </a:p>
        </p:txBody>
      </p:sp>
      <p:pic>
        <p:nvPicPr>
          <p:cNvPr id="184" name="Google Shape;184;p16" descr="Imagen que contiene dibujo, alimentos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532424" cy="14820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7"/>
          <p:cNvSpPr txBox="1">
            <a:spLocks noGrp="1"/>
          </p:cNvSpPr>
          <p:nvPr>
            <p:ph type="title"/>
          </p:nvPr>
        </p:nvSpPr>
        <p:spPr>
          <a:xfrm>
            <a:off x="2039275" y="0"/>
            <a:ext cx="81134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MX"/>
              <a:t>RENTA:</a:t>
            </a:r>
            <a:br>
              <a:rPr lang="es-MX"/>
            </a:br>
            <a:r>
              <a:rPr lang="es-MX"/>
              <a:t>HEAT MAP DE VARIACIÓN DE PRECIOS</a:t>
            </a:r>
            <a:endParaRPr/>
          </a:p>
        </p:txBody>
      </p:sp>
      <p:pic>
        <p:nvPicPr>
          <p:cNvPr id="190" name="Google Shape;190;p17" descr="Imagen que contiene dibujo, alimentos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532424" cy="14820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8"/>
          <p:cNvSpPr/>
          <p:nvPr/>
        </p:nvSpPr>
        <p:spPr>
          <a:xfrm>
            <a:off x="2133600" y="2019300"/>
            <a:ext cx="8243700" cy="3124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18"/>
          <p:cNvSpPr txBox="1">
            <a:spLocks noGrp="1"/>
          </p:cNvSpPr>
          <p:nvPr>
            <p:ph type="title"/>
          </p:nvPr>
        </p:nvSpPr>
        <p:spPr>
          <a:xfrm>
            <a:off x="1814700" y="2523900"/>
            <a:ext cx="8562600" cy="18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MX" sz="3600"/>
              <a:t>RENTABILIDAD INMOBILIARIA:</a:t>
            </a:r>
            <a:endParaRPr sz="3600"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br>
              <a:rPr lang="es-MX" sz="3600"/>
            </a:br>
            <a:r>
              <a:rPr lang="es-MX" sz="3600"/>
              <a:t>Relación renta anual precio de venta y rentabilidad bruta últimos 12 meses</a:t>
            </a:r>
            <a:endParaRPr sz="3600"/>
          </a:p>
        </p:txBody>
      </p:sp>
      <p:pic>
        <p:nvPicPr>
          <p:cNvPr id="197" name="Google Shape;197;p18" descr="Imagen que contiene dibujo, alimentos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790700" cy="148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9"/>
          <p:cNvSpPr txBox="1">
            <a:spLocks noGrp="1"/>
          </p:cNvSpPr>
          <p:nvPr>
            <p:ph type="title"/>
          </p:nvPr>
        </p:nvSpPr>
        <p:spPr>
          <a:xfrm>
            <a:off x="2667150" y="0"/>
            <a:ext cx="6857700" cy="18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MX" sz="4000"/>
              <a:t>RENTABILIDAD:</a:t>
            </a:r>
            <a:endParaRPr sz="4000"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MX" sz="4000"/>
              <a:t>RETORNO BRUTO ANUAL DE LA RENTA</a:t>
            </a:r>
            <a:endParaRPr sz="4000"/>
          </a:p>
        </p:txBody>
      </p:sp>
      <p:pic>
        <p:nvPicPr>
          <p:cNvPr id="203" name="Google Shape;203;p19" descr="Imagen que contiene dibujo, alimentos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532424" cy="14820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0"/>
          <p:cNvSpPr txBox="1">
            <a:spLocks noGrp="1"/>
          </p:cNvSpPr>
          <p:nvPr>
            <p:ph type="title"/>
          </p:nvPr>
        </p:nvSpPr>
        <p:spPr>
          <a:xfrm>
            <a:off x="1532425" y="0"/>
            <a:ext cx="10659600" cy="24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3600">
                <a:latin typeface="Arial"/>
                <a:ea typeface="Arial"/>
                <a:cs typeface="Arial"/>
                <a:sym typeface="Arial"/>
              </a:rPr>
              <a:t>RENTABILIDAD:</a:t>
            </a:r>
            <a:endParaRPr sz="3600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3600">
                <a:latin typeface="Arial"/>
                <a:ea typeface="Arial"/>
                <a:cs typeface="Arial"/>
                <a:sym typeface="Arial"/>
              </a:rPr>
              <a:t>PRECIO BRUTO ANUAL SEGÚN LAS COLONIAS DE LA CIUDAD</a:t>
            </a:r>
            <a:endParaRPr sz="3600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endParaRPr sz="3600"/>
          </a:p>
        </p:txBody>
      </p:sp>
      <p:pic>
        <p:nvPicPr>
          <p:cNvPr id="209" name="Google Shape;209;p20" descr="Imagen que contiene dibujo, alimentos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532424" cy="14820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1"/>
          <p:cNvSpPr txBox="1">
            <a:spLocks noGrp="1"/>
          </p:cNvSpPr>
          <p:nvPr>
            <p:ph type="title"/>
          </p:nvPr>
        </p:nvSpPr>
        <p:spPr>
          <a:xfrm>
            <a:off x="1339203" y="0"/>
            <a:ext cx="9513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MX"/>
              <a:t>RENTABILIDAD:</a:t>
            </a:r>
            <a:br>
              <a:rPr lang="es-MX"/>
            </a:br>
            <a:r>
              <a:rPr lang="es-MX"/>
              <a:t>RENTABILIDAD SEGÚN LAS COLONIAS</a:t>
            </a:r>
            <a:endParaRPr/>
          </a:p>
        </p:txBody>
      </p:sp>
      <p:pic>
        <p:nvPicPr>
          <p:cNvPr id="215" name="Google Shape;215;p21" descr="Imagen que contiene dibujo, alimentos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790700" cy="148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11e0628b44c_0_8"/>
          <p:cNvSpPr txBox="1"/>
          <p:nvPr/>
        </p:nvSpPr>
        <p:spPr>
          <a:xfrm>
            <a:off x="2032000" y="-33875"/>
            <a:ext cx="7924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000">
                <a:latin typeface="Calibri"/>
                <a:ea typeface="Calibri"/>
                <a:cs typeface="Calibri"/>
                <a:sym typeface="Calibri"/>
              </a:rPr>
              <a:t>INFORME DE MERCADO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1" name="Google Shape;221;g11e0628b44c_0_8" descr="Imagen que contiene dibujo, alimentos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2230924" cy="186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239</Words>
  <Application>Microsoft Office PowerPoint</Application>
  <PresentationFormat>Panorámica</PresentationFormat>
  <Paragraphs>33</Paragraphs>
  <Slides>22</Slides>
  <Notes>22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5" baseType="lpstr">
      <vt:lpstr>Arial</vt:lpstr>
      <vt:lpstr>Calibri</vt:lpstr>
      <vt:lpstr>Tema de Office</vt:lpstr>
      <vt:lpstr>PUNTO DE NEGOCIO</vt:lpstr>
      <vt:lpstr>RESUMEN EJECUTIVO TENDENCIAS DESTACADAS</vt:lpstr>
      <vt:lpstr>PUNTO DE NEGOCIO INDEX TRANSFORMANDO DATOS EN ESTADÍSTICAS CONFIABLES</vt:lpstr>
      <vt:lpstr>PRECIO DE VENTA:</vt:lpstr>
      <vt:lpstr>VENTA UNIDAD MEDIA. PRECIO Y SUPERFICIE</vt:lpstr>
      <vt:lpstr>VENTA Precio medio de la Ciudad Evolución:</vt:lpstr>
      <vt:lpstr>VENTA: PRECIO SEGÚN LAS COLONIAS DE LA CIUDAD</vt:lpstr>
      <vt:lpstr>VENTA: COLONIAS CON MAYOR Y MENOR PRECIO</vt:lpstr>
      <vt:lpstr>VENTA:  RANGO DE PRECIOS SEGÚN LAS COLONIAS</vt:lpstr>
      <vt:lpstr>VENTA HEAT MAP VARIACIÓN DE PRECIOS</vt:lpstr>
      <vt:lpstr>PRECIO DE RENTA: </vt:lpstr>
      <vt:lpstr>RENTA: UNIDAD DE MEDIDA PRECIO Y SUPERFICIE</vt:lpstr>
      <vt:lpstr>RENTA: PRECIO MEDIO DE LA CIUDAD EVOLUCIÓN</vt:lpstr>
      <vt:lpstr>RENTA: PRECIO SEGÚN LAS COLONIAS DE LA CIUDAD</vt:lpstr>
      <vt:lpstr>RENTA: COLONIAS CON MAYOR PRECIO Y MENOR PRECIO</vt:lpstr>
      <vt:lpstr>RENTA: RANGO DE PRECIO SEGÚN COLONIAS DE LA CIUDAD</vt:lpstr>
      <vt:lpstr>RENTA: HEAT MAP DE VARIACIÓN DE PRECIOS</vt:lpstr>
      <vt:lpstr>RENTABILIDAD INMOBILIARIA:  Relación renta anual precio de venta y rentabilidad bruta últimos 12 meses</vt:lpstr>
      <vt:lpstr>RENTABILIDAD: RETORNO BRUTO ANUAL DE LA RENTA</vt:lpstr>
      <vt:lpstr>RENTABILIDAD: PRECIO BRUTO ANUAL SEGÚN LAS COLONIAS DE LA CIUDAD </vt:lpstr>
      <vt:lpstr>RENTABILIDAD: RENTABILIDAD SEGÚN LAS COLONIAS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PUNTO DE NEGOCIO</dc:title>
  <dc:creator>jorge oyozabal</dc:creator>
  <cp:lastModifiedBy>jorge oyozabal</cp:lastModifiedBy>
  <cp:revision>6</cp:revision>
  <dcterms:created xsi:type="dcterms:W3CDTF">2022-03-09T15:01:14Z</dcterms:created>
  <dcterms:modified xsi:type="dcterms:W3CDTF">2022-03-20T06:28:25Z</dcterms:modified>
</cp:coreProperties>
</file>