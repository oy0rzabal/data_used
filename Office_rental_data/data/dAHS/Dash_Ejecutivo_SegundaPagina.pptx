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w1j2I7ovUA7OCZXVveDTicbHo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1a6e57d96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1a6e57d96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775470" y="2542529"/>
            <a:ext cx="10640754" cy="77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s-MX" sz="4000">
                <a:solidFill>
                  <a:schemeClr val="dk2"/>
                </a:solidFill>
              </a:rPr>
              <a:t>PUNTO DE NEGOCIO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13968" y="3350721"/>
            <a:ext cx="9163757" cy="450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s-MX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/>
          </a:p>
        </p:txBody>
      </p:sp>
      <p:pic>
        <p:nvPicPr>
          <p:cNvPr id="86" name="Google Shape;86;p1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513967" y="6025751"/>
            <a:ext cx="9163757" cy="450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s-MX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REPORTE DE MERCADO DE ACAPULCO DE JUAREZ.</a:t>
            </a:r>
            <a:endParaRPr sz="2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s-MX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ENERO 2022</a:t>
            </a:r>
            <a:endParaRPr sz="2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RESUMEN EJECUTIVO</a:t>
            </a:r>
            <a:br>
              <a:rPr lang="es-MX"/>
            </a:br>
            <a:r>
              <a:rPr lang="es-MX"/>
              <a:t>TENDENCIAS DESTACADAS</a:t>
            </a:r>
            <a:endParaRPr/>
          </a:p>
        </p:txBody>
      </p:sp>
      <p:pic>
        <p:nvPicPr>
          <p:cNvPr id="93" name="Google Shape;93;p2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1410809" y="0"/>
            <a:ext cx="9370381" cy="98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MX" sz="3600"/>
              <a:t>PUNTO DE NEGOCIO INDEX</a:t>
            </a:r>
            <a:br>
              <a:rPr lang="es-MX" sz="3600"/>
            </a:br>
            <a:r>
              <a:rPr lang="es-MX" sz="2800"/>
              <a:t>TRANSFORMANDO DATOS EN ESTADÍSTICAS CONFIABLES</a:t>
            </a:r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0" y="6285300"/>
            <a:ext cx="625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es-MX" sz="1400"/>
              <a:t>OBJETIVO: BRINDAR ESTADÍSTICAS CLARAS OBJETIVAS Y CONFIABLES SOBRE EL MERCADO INMOBILIARIO.</a:t>
            </a:r>
            <a:endParaRPr sz="1400"/>
          </a:p>
        </p:txBody>
      </p:sp>
      <p:pic>
        <p:nvPicPr>
          <p:cNvPr id="100" name="Google Shape;100;p3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94310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0" y="5712600"/>
            <a:ext cx="678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 DE DATOS: TODOS LOS ANUNCIOS DE INMUEBLES PUBLICADOS EN </a:t>
            </a:r>
            <a:r>
              <a:rPr lang="es-MX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PUNTO DE NEGOCIO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6781800" y="5712600"/>
            <a:ext cx="41100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PERIODICIDAD: CÁLCULO Y PUBLICACIÓN MENSUAL.</a:t>
            </a:r>
            <a:endParaRPr sz="1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6710400" y="6285300"/>
            <a:ext cx="548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METODOLOGÍA: UTILIZAMOS LAS MEJORAS PRÁCTICAS </a:t>
            </a:r>
            <a:r>
              <a:rPr lang="es-MX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ESTADÍSTICAS</a:t>
            </a:r>
            <a:r>
              <a:rPr lang="es-MX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INTERNACIONALES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2225" y="1571625"/>
            <a:ext cx="706755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4061825" y="0"/>
            <a:ext cx="3977400" cy="1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/>
              <a:t>PRECIO DE VENTA:</a:t>
            </a:r>
            <a:endParaRPr/>
          </a:p>
        </p:txBody>
      </p:sp>
      <p:pic>
        <p:nvPicPr>
          <p:cNvPr id="110" name="Google Shape;110;p4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ctrTitle"/>
          </p:nvPr>
        </p:nvSpPr>
        <p:spPr>
          <a:xfrm>
            <a:off x="1692675" y="0"/>
            <a:ext cx="8806649" cy="126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 sz="4400"/>
              <a:t>VENTA</a:t>
            </a:r>
            <a:br>
              <a:rPr lang="es-MX" sz="4400"/>
            </a:br>
            <a:r>
              <a:rPr lang="es-MX" sz="4400"/>
              <a:t>UNIDAD MEDIA. PRECIO Y SUPERFICIE</a:t>
            </a:r>
            <a:endParaRPr sz="4400"/>
          </a:p>
        </p:txBody>
      </p:sp>
      <p:pic>
        <p:nvPicPr>
          <p:cNvPr id="116" name="Google Shape;116;p5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VENTA</a:t>
            </a:r>
            <a:br>
              <a:rPr lang="es-MX"/>
            </a:br>
            <a:r>
              <a:rPr lang="es-MX"/>
              <a:t>Precio medio de la Ciudad Evolución: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3066125" y="1482007"/>
            <a:ext cx="6317572" cy="72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MX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MENSUAL MXN/M2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6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2171700" y="78150"/>
            <a:ext cx="10020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/>
              <a:t>VENTA:</a:t>
            </a:r>
            <a:br>
              <a:rPr lang="es-MX"/>
            </a:br>
            <a:r>
              <a:rPr lang="es-MX"/>
              <a:t>PRECIO SEGÚN LAS COLONIAS DE LA CIUDAD</a:t>
            </a:r>
            <a:endParaRPr/>
          </a:p>
        </p:txBody>
      </p:sp>
      <p:pic>
        <p:nvPicPr>
          <p:cNvPr id="129" name="Google Shape;129;p7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1837225" y="-87750"/>
            <a:ext cx="9036300" cy="16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/>
              <a:t>VENTA:</a:t>
            </a:r>
            <a:br>
              <a:rPr lang="es-MX"/>
            </a:br>
            <a:r>
              <a:rPr lang="es-MX"/>
              <a:t>COLONIAS CON MAYOR Y MENOR PRECIO</a:t>
            </a:r>
            <a:endParaRPr/>
          </a:p>
        </p:txBody>
      </p:sp>
      <p:pic>
        <p:nvPicPr>
          <p:cNvPr id="135" name="Google Shape;135;p8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86793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VENTA</a:t>
            </a:r>
            <a:br>
              <a:rPr lang="es-MX"/>
            </a:br>
            <a:r>
              <a:rPr lang="es-MX"/>
              <a:t>HEAT MAP VARIACIÓN DE PRECIOS</a:t>
            </a:r>
            <a:endParaRPr/>
          </a:p>
        </p:txBody>
      </p:sp>
      <p:pic>
        <p:nvPicPr>
          <p:cNvPr id="141" name="Google Shape;141;p10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>
            <a:spLocks noGrp="1"/>
          </p:cNvSpPr>
          <p:nvPr>
            <p:ph type="title"/>
          </p:nvPr>
        </p:nvSpPr>
        <p:spPr>
          <a:xfrm>
            <a:off x="1871150" y="2232822"/>
            <a:ext cx="9249900" cy="30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MX" sz="3600"/>
              <a:t>PRECIO DE RENTA:</a:t>
            </a:r>
            <a:endParaRPr sz="36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br>
              <a:rPr lang="es-MX" sz="3600"/>
            </a:br>
            <a:r>
              <a:rPr lang="es-MX" sz="3600"/>
              <a:t>Precio de renta mensual de un departamento de 2 recamaras y 95.5 m2 de superficie cubierta</a:t>
            </a:r>
            <a:endParaRPr sz="3600"/>
          </a:p>
        </p:txBody>
      </p:sp>
      <p:pic>
        <p:nvPicPr>
          <p:cNvPr id="147" name="Google Shape;147;p11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>
            <a:spLocks noGrp="1"/>
          </p:cNvSpPr>
          <p:nvPr>
            <p:ph type="title"/>
          </p:nvPr>
        </p:nvSpPr>
        <p:spPr>
          <a:xfrm>
            <a:off x="1800600" y="-52650"/>
            <a:ext cx="10391400" cy="15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RENTA:</a:t>
            </a:r>
            <a:br>
              <a:rPr lang="es-MX"/>
            </a:br>
            <a:r>
              <a:rPr lang="es-MX"/>
              <a:t>UNIDAD MEDIDA PRECIO Y SUPERFICIE</a:t>
            </a:r>
            <a:endParaRPr/>
          </a:p>
        </p:txBody>
      </p:sp>
      <p:pic>
        <p:nvPicPr>
          <p:cNvPr id="153" name="Google Shape;153;p12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title"/>
          </p:nvPr>
        </p:nvSpPr>
        <p:spPr>
          <a:xfrm>
            <a:off x="562850" y="8814"/>
            <a:ext cx="11066300" cy="14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s-MX" dirty="0"/>
              <a:t>RENTA</a:t>
            </a:r>
            <a:br>
              <a:rPr lang="es-MX" dirty="0"/>
            </a:br>
            <a:r>
              <a:rPr lang="es-MX" dirty="0"/>
              <a:t>PRECIO MEDIO DE LA CIUDAD EVOLUCIÓN MENSUAL</a:t>
            </a:r>
            <a:endParaRPr dirty="0"/>
          </a:p>
        </p:txBody>
      </p:sp>
      <p:pic>
        <p:nvPicPr>
          <p:cNvPr id="159" name="Google Shape;159;p13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>
            <a:spLocks noGrp="1"/>
          </p:cNvSpPr>
          <p:nvPr>
            <p:ph type="title"/>
          </p:nvPr>
        </p:nvSpPr>
        <p:spPr>
          <a:xfrm>
            <a:off x="1532424" y="0"/>
            <a:ext cx="10061658" cy="148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dirty="0"/>
              <a:t>RENTA:</a:t>
            </a:r>
            <a:br>
              <a:rPr lang="es-MX" dirty="0"/>
            </a:br>
            <a:r>
              <a:rPr lang="es-MX" dirty="0"/>
              <a:t>PRECIO SEGÚN LAS COLONIAS DE LAS CIUDAD</a:t>
            </a:r>
            <a:endParaRPr dirty="0"/>
          </a:p>
        </p:txBody>
      </p:sp>
      <p:pic>
        <p:nvPicPr>
          <p:cNvPr id="166" name="Google Shape;166;p14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>
            <a:spLocks noGrp="1"/>
          </p:cNvSpPr>
          <p:nvPr>
            <p:ph type="title"/>
          </p:nvPr>
        </p:nvSpPr>
        <p:spPr>
          <a:xfrm>
            <a:off x="1651246" y="0"/>
            <a:ext cx="946359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MX" sz="4000" dirty="0"/>
              <a:t>RENTA:</a:t>
            </a:r>
            <a:br>
              <a:rPr lang="es-MX" sz="4000" dirty="0"/>
            </a:br>
            <a:r>
              <a:rPr lang="es-MX" sz="4000" dirty="0"/>
              <a:t>COLONIAS CON MAYOR PRECIO Y MENOR PRECIO</a:t>
            </a:r>
            <a:endParaRPr sz="4000" dirty="0"/>
          </a:p>
        </p:txBody>
      </p:sp>
      <p:pic>
        <p:nvPicPr>
          <p:cNvPr id="172" name="Google Shape;172;p15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2039275" y="0"/>
            <a:ext cx="81134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/>
              <a:t>RENTA:</a:t>
            </a:r>
            <a:br>
              <a:rPr lang="es-MX"/>
            </a:br>
            <a:r>
              <a:rPr lang="es-MX"/>
              <a:t>HEAT MAP DE VARIACIÓN DE PRECIOS</a:t>
            </a:r>
            <a:endParaRPr/>
          </a:p>
        </p:txBody>
      </p:sp>
      <p:pic>
        <p:nvPicPr>
          <p:cNvPr id="178" name="Google Shape;178;p17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2133600" y="2019300"/>
            <a:ext cx="8243700" cy="312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 txBox="1">
            <a:spLocks noGrp="1"/>
          </p:cNvSpPr>
          <p:nvPr>
            <p:ph type="title"/>
          </p:nvPr>
        </p:nvSpPr>
        <p:spPr>
          <a:xfrm>
            <a:off x="2133600" y="2219100"/>
            <a:ext cx="8243700" cy="9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sz="3600" dirty="0"/>
              <a:t>RENTABILIDAD INMOBILIARIA:</a:t>
            </a:r>
            <a:endParaRPr sz="3600" dirty="0"/>
          </a:p>
        </p:txBody>
      </p:sp>
      <p:pic>
        <p:nvPicPr>
          <p:cNvPr id="185" name="Google Shape;185;p18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90700" cy="14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>
            <a:spLocks noGrp="1"/>
          </p:cNvSpPr>
          <p:nvPr>
            <p:ph type="title"/>
          </p:nvPr>
        </p:nvSpPr>
        <p:spPr>
          <a:xfrm>
            <a:off x="1401150" y="0"/>
            <a:ext cx="93897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 sz="4000" dirty="0"/>
              <a:t>RENTABILIDAD:</a:t>
            </a:r>
            <a:endParaRPr sz="40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 sz="4000" dirty="0"/>
              <a:t>RETORNO BRUTO ANUAL DE LA RENTA</a:t>
            </a:r>
            <a:endParaRPr sz="4000" dirty="0"/>
          </a:p>
        </p:txBody>
      </p:sp>
      <p:pic>
        <p:nvPicPr>
          <p:cNvPr id="191" name="Google Shape;191;p19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>
            <a:spLocks noGrp="1"/>
          </p:cNvSpPr>
          <p:nvPr>
            <p:ph type="title"/>
          </p:nvPr>
        </p:nvSpPr>
        <p:spPr>
          <a:xfrm>
            <a:off x="1397000" y="0"/>
            <a:ext cx="10795025" cy="2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600" dirty="0">
                <a:latin typeface="Arial"/>
                <a:ea typeface="Arial"/>
                <a:cs typeface="Arial"/>
                <a:sym typeface="Arial"/>
              </a:rPr>
              <a:t>RENTABILIDAD:</a:t>
            </a:r>
            <a:endParaRPr sz="3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600" dirty="0">
                <a:latin typeface="Arial"/>
                <a:ea typeface="Arial"/>
                <a:cs typeface="Arial"/>
                <a:sym typeface="Arial"/>
              </a:rPr>
              <a:t>PRECIO BRUTO ANUAL SEGÚN COLONIAS DE LA CIUDAD</a:t>
            </a:r>
            <a:endParaRPr sz="3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dirty="0"/>
          </a:p>
        </p:txBody>
      </p:sp>
      <p:pic>
        <p:nvPicPr>
          <p:cNvPr id="197" name="Google Shape;197;p20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>
            <a:spLocks noGrp="1"/>
          </p:cNvSpPr>
          <p:nvPr>
            <p:ph type="title"/>
          </p:nvPr>
        </p:nvSpPr>
        <p:spPr>
          <a:xfrm>
            <a:off x="1339203" y="0"/>
            <a:ext cx="951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RENTABILIDAD:</a:t>
            </a:r>
            <a:br>
              <a:rPr lang="es-MX"/>
            </a:br>
            <a:r>
              <a:rPr lang="es-MX"/>
              <a:t>RENTABILIDAD SEGÚN LAS COLONIAS</a:t>
            </a:r>
            <a:endParaRPr/>
          </a:p>
        </p:txBody>
      </p:sp>
      <p:pic>
        <p:nvPicPr>
          <p:cNvPr id="203" name="Google Shape;203;p21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90700" cy="14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1a6e57d968_0_23"/>
          <p:cNvSpPr txBox="1"/>
          <p:nvPr/>
        </p:nvSpPr>
        <p:spPr>
          <a:xfrm>
            <a:off x="2032000" y="-33875"/>
            <a:ext cx="7924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0">
                <a:latin typeface="Calibri"/>
                <a:ea typeface="Calibri"/>
                <a:cs typeface="Calibri"/>
                <a:sym typeface="Calibri"/>
              </a:rPr>
              <a:t>INFORME DE MERCADO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g11a6e57d968_0_23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230924" cy="18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221</Words>
  <Application>Microsoft Office PowerPoint</Application>
  <PresentationFormat>Panorámica</PresentationFormat>
  <Paragraphs>31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Tema de Office</vt:lpstr>
      <vt:lpstr>PUNTO DE NEGOCIO</vt:lpstr>
      <vt:lpstr>RESUMEN EJECUTIVO TENDENCIAS DESTACADAS</vt:lpstr>
      <vt:lpstr>PUNTO DE NEGOCIO INDEX TRANSFORMANDO DATOS EN ESTADÍSTICAS CONFIABLES</vt:lpstr>
      <vt:lpstr>PRECIO DE VENTA:</vt:lpstr>
      <vt:lpstr>VENTA UNIDAD MEDIA. PRECIO Y SUPERFICIE</vt:lpstr>
      <vt:lpstr>VENTA Precio medio de la Ciudad Evolución:</vt:lpstr>
      <vt:lpstr>VENTA: PRECIO SEGÚN LAS COLONIAS DE LA CIUDAD</vt:lpstr>
      <vt:lpstr>VENTA: COLONIAS CON MAYOR Y MENOR PRECIO</vt:lpstr>
      <vt:lpstr>VENTA HEAT MAP VARIACIÓN DE PRECIOS</vt:lpstr>
      <vt:lpstr>PRECIO DE RENTA:  Precio de renta mensual de un departamento de 2 recamaras y 95.5 m2 de superficie cubierta</vt:lpstr>
      <vt:lpstr>RENTA: UNIDAD MEDIDA PRECIO Y SUPERFICIE</vt:lpstr>
      <vt:lpstr>RENTA PRECIO MEDIO DE LA CIUDAD EVOLUCIÓN MENSUAL</vt:lpstr>
      <vt:lpstr>RENTA: PRECIO SEGÚN LAS COLONIAS DE LAS CIUDAD</vt:lpstr>
      <vt:lpstr>RENTA: COLONIAS CON MAYOR PRECIO Y MENOR PRECIO</vt:lpstr>
      <vt:lpstr>RENTA: HEAT MAP DE VARIACIÓN DE PRECIOS</vt:lpstr>
      <vt:lpstr>RENTABILIDAD INMOBILIARIA:</vt:lpstr>
      <vt:lpstr>RENTABILIDAD: RETORNO BRUTO ANUAL DE LA RENTA</vt:lpstr>
      <vt:lpstr>RENTABILIDAD: PRECIO BRUTO ANUAL SEGÚN COLONIAS DE LA CIUDAD </vt:lpstr>
      <vt:lpstr>RENTABILIDAD: RENTABILIDAD SEGÚN LAS COLONIAS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PUNTO DE NEGOCIO</dc:title>
  <dc:creator>jorge oyozabal</dc:creator>
  <cp:lastModifiedBy>jorge oyozabal</cp:lastModifiedBy>
  <cp:revision>2</cp:revision>
  <dcterms:created xsi:type="dcterms:W3CDTF">2022-03-09T15:01:14Z</dcterms:created>
  <dcterms:modified xsi:type="dcterms:W3CDTF">2022-03-20T07:15:24Z</dcterms:modified>
</cp:coreProperties>
</file>